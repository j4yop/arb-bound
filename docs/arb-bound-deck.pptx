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12"/>
    <p:sldId id="257" r:id="rId13"/>
    <p:sldId id="258" r:id="rId11"/>
    <p:sldId id="259" r:id="rId10"/>
    <p:sldId id="260" r:id="rId9"/>
    <p:sldId id="261" r:id="rId8"/>
    <p:sldId id="262" r:id="rId7"/>
    <p:sldId id="263" r:id="rId6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PROBLEM STATEMENT &amp; THEME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1627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A1917"/>
                </a:solidFill>
                <a:latin typeface="Inter"/>
              </a:rPr>
              <a:t>Is an MCX cross-contract gold spread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A1917"/>
                </a:solidFill>
                <a:latin typeface="Inter"/>
              </a:rPr>
              <a:t>an opportunity — or the cost of closing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5120640"/>
            <a:ext cx="548640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557784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6B6862"/>
                </a:solidFill>
                <a:latin typeface="Inter"/>
              </a:rPr>
              <a:t>In 2024-11-07, ₹2,164 of gold premium evaporated in 15 trading days. We found the day — and proved it was never an arbitrage.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87782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arb-bound  ·  11,771 real MCX rows  ·  github.com/j4yop/arb-bound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PROBLEM STATEMENT &amp; THEME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7863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MCX lists one metal as four physically-delivered futures.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A trader sees four prices, sees a spread, and concludes the spread is available.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Three things make that wrong: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6459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Delivery is compulsory.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1214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Closing a cross-contract position means taking physical bars, not netting P&amp;L.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4747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Fabrication cost is fixed per 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9502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Per-gram overhead scales inversely with size: a 1 g bar costs ~8x an 8 g bar.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3035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The contracts are not the same 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7790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GOLDM is 995 purity quoting duty-inclusive Ex-Ahmedabad. The others are 999 retail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68580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7223760"/>
            <a:ext cx="1627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So the observable gap is a mixture of a contractual wedge, a physical conversion cost, and possibly a real dislocation — and prices alone cannot separate them.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The data needed to settle it is free, public, and published daily. Nobody uses it this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3400" b="1">
                <a:solidFill>
                  <a:srgbClr val="1A1917"/>
                </a:solidFill>
                <a:latin typeface="Inter"/>
              </a:rPr>
              <a:t>arb-bound — bhavcopy in, per-pair verdict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7744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1  NORMALISE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Everything becomes rupees per gram of fine gold: px / quote_grams / purity. MCX pads symbols and uses two date formats; both handled.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2  MATCH MATURITY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These contracts expire on offset calendars, so a naive average leaks term structure into the basis. Each leg is paired with the nearest-maturity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3  TEST WALK-FORWARD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 centring level is fitted on training data only, then frozen and applied to data the test never saw. One scalar is fitted; nothing else is tuned.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8740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4  AUDIT EXECUTABILITY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740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A bhavcopy print is settlement, not a quote you can lift. Every flagged day is re-tested against the exchange's own printed high/low bands.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621792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4922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917"/>
                </a:solidFill>
                <a:latin typeface="Inter"/>
              </a:rPr>
              <a:t>THE BOUND  —  derived from contract structure, never fitted to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256–334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0752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40–118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PETAL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13–91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0576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284–362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M / PETAL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905488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255–333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M / 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0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41–119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PETAL / 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5544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58191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MCX bhavcopy — JSON embedded in the page, or CSV drop. No API key.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4871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arbbound/fetch.py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514599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proxy-routed live fetch (MCX returns HTTP 403 to data-centre IPs)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41985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arbbound/ingest.py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47287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parse · strip symbols · filter OPTFUT · per-gram-fine · maturity 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3525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arbbound/contracts.py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37997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contract master — every fact carries a Provenance citation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285231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arbbound/bound.py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1266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structural bound: fabrication + purity/duty wedge + statutory friction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6217919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arbbound/analysis.py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245351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walk-forward · regime-break detection · executability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7150607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arbbound/cli.py → build.py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7178039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verdict to stdout, report.json, and a static HTML 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850392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8732520"/>
            <a:ext cx="1627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Dependencies point one way:  cli → analysis → {bound, ingest} → contracts.  No module imports one below it in a cycle, so each piece is testable in isolation and an assumption can change without touching the pipeline.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39 tests encode the contract facts and the bound logic.  CI runs them plus a CLI smoke check on every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MARKET RESEARCH /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A1917"/>
                </a:solidFill>
                <a:latin typeface="Inter"/>
              </a:rPr>
              <a:t>11,771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real traded rows, zero synthetic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A1917"/>
                </a:solidFill>
                <a:latin typeface="Inter"/>
              </a:rPr>
              <a:t>6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contract pairs tested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F6F4A"/>
                </a:solidFill>
                <a:latin typeface="Inter"/>
              </a:rPr>
              <a:t>4/6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pairs with a stable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3075920" y="1463040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F6F4A"/>
                </a:solidFill>
                <a:latin typeface="Inter"/>
              </a:rPr>
              <a:t>0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persistent edges survive costs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2004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627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917"/>
                </a:solidFill>
                <a:latin typeface="Inter"/>
              </a:rPr>
              <a:t>WALK-FORWARD  —  residual basis, level frozen from training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14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41148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+691 bps vs bound 256–334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731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GOLDGUINEA/GOLDPETAL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77316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4773168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A6700"/>
                </a:solidFill>
                <a:latin typeface="Inter"/>
              </a:rPr>
              <a:t>level shifted +150 bps — regime change, not 225 separate opportunities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43153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431536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A6700"/>
                </a:solidFill>
                <a:latin typeface="Inter"/>
              </a:rPr>
              <a:t>level shifted -14 bps — regime change, not 12 separate opportunities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6089903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GOLDM/GOLDPETAL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6089903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089903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+815 bps vs bound 284–362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6748271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GOLDM/GOLDTEN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74827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748271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-145 bps vs bound 255–333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74066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GOLDPETAL/GOLDTEN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7406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740664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+4 bps vs bound 41–119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84582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8686800"/>
            <a:ext cx="1627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Open question, deliberately unanswered:  GOLDGUINEA/GOLDPETAL moved +246 → -12 bps across ~3 weeks in November 2024 — a monotone drift, not a dated circular taking effect.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The nearest MCX circular (Aug 2025) post-dates it by eight months and cannot explain it. We report it as a dated open question rather than inventing a cause.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Close the open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Pull MCX circulars for Oct–Dec 2024 and test whether a contract-spec or delivery change explains the November break.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51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Attribute the two stable breaches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GOLDGUINEA/GOLDM and GOLDM/GOLDPETAL breach the bound on a stable level. The GOLDM duty wedge is currently a stated 0–400 bps range; a sourced duty history would resolve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3093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Silver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7665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SILVER / SILVERM / SILVERMIC / SILVER100 have the same contract structure. The maturity-matched method ports directly.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BEYOND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Beyond MCX gold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517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 general primitive: any futures series is invalid across its own specification discontinuities. Applies to NCDEX, then NSE/BSE F&amp;O.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4251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Executable prices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7091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This is settlement data. An order-book feed would turn the executability audit from an upper bound into a real fill estimate.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3093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Public corpus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7665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MCX circulars are numbered, dated and append-only. Each month of ingestion retroactively re-scores historical results.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EXTRA (OPTIONAL)  —  ASSUMPTIONS AND WHAT THEY DO NOT 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STATED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Minting cost is an assumption, not a measurement.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₹20–60 per bar, because MCX does not publish it. Carried as a range and swept; conclusions are claimed only where they survive the whole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43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The duty wedge is policy-set and has moved repeatedly.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006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6% (Jul 2024) → 15% (May 2026). Carried as a range, never fitted as a constant.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4922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GOLDTEN has no history before Apr 2025.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9494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 GOLDTEN-benchmarked '3-year' series is really about 18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9A6700"/>
                </a:solidFill>
                <a:latin typeface="Inter"/>
              </a:rPr>
              <a:t>WHAT THIS DOES NOT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The November 2024 break is dated, not explained.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5176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We tested the obvious hypothesis — the May 2026 duty hike — and it failed the timing test: the spike peaks Feb 2026, the duty move is May 2026.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4343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Settlement data cannot prove a tradeable edge.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8006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Everything here is end-of-day settlement. The executability audit bounds what could have been reachable; it does not establish a fill.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922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Two pairs still breach on a stable level.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9494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GOLDGUINEA/GOLDM and GOLDM/GOLDPETAL. Reported rather than tuned away.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3291840"/>
            <a:ext cx="1627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4800" b="1">
                <a:solidFill>
                  <a:srgbClr val="1A1917"/>
                </a:solidFill>
                <a:latin typeface="Inter"/>
              </a:rPr>
              <a:t>The spread was never the opportunity.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4846320"/>
            <a:ext cx="548640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212080"/>
            <a:ext cx="1627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2200" b="0">
                <a:solidFill>
                  <a:srgbClr val="6B6862"/>
                </a:solidFill>
                <a:latin typeface="Inter"/>
              </a:rPr>
              <a:t>We proved it with a bound derived from contract specifications, swept across every assumption it rests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768096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github.com/j4yop/arb-bound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83210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B6862"/>
                </a:solidFill>
                <a:latin typeface="Inter"/>
              </a:rPr>
              <a:t>j4yop.github.io/arb-bound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