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12"/>
    <p:sldId id="257" r:id="rId13"/>
    <p:sldId id="258" r:id="rId11"/>
    <p:sldId id="259" r:id="rId10"/>
    <p:sldId id="260" r:id="rId9"/>
    <p:sldId id="261" r:id="rId8"/>
    <p:sldId id="262" r:id="rId7"/>
    <p:sldId id="263" r:id="rId6"/>
  </p:sldIdLst>
  <p:sldSz cy="10287000" cx="18288000"/>
  <p:notesSz cx="6858000" cy="9144000"/>
  <p:embeddedFontLst>
    <p:embeddedFont>
      <p:font typeface="IBM Plex Sans"/>
      <p:bold r:id="rId14"/>
      <p:boldItalic r:id="rId15"/>
    </p:embeddedFont>
    <p:embeddedFont>
      <p:font typeface="Caveat"/>
      <p:regular r:id="rId16"/>
      <p:bold r:id="rId17"/>
    </p:embeddedFont>
    <p:embeddedFont>
      <p:font typeface="Montserrat"/>
      <p:bold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8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font" Target="fonts/IBMPlexSans-bold.fntdata"/><Relationship Id="rId15" Type="http://schemas.openxmlformats.org/officeDocument/2006/relationships/font" Target="fonts/IBMPlexSans-boldItalic.fntdata"/><Relationship Id="rId16" Type="http://schemas.openxmlformats.org/officeDocument/2006/relationships/font" Target="fonts/Caveat-regular.fntdata"/><Relationship Id="rId17" Type="http://schemas.openxmlformats.org/officeDocument/2006/relationships/font" Target="fonts/Caveat-bold.fntdata"/><Relationship Id="rId18" Type="http://schemas.openxmlformats.org/officeDocument/2006/relationships/font" Target="fonts/Montserrat-bold.fntdata"/><Relationship Id="rId19" Type="http://schemas.openxmlformats.org/officeDocument/2006/relationships/font" Target="fonts/Montserra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828800"/>
            <a:ext cx="1627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67C00"/>
                </a:solidFill>
                <a:latin typeface="Inter"/>
              </a:rPr>
              <a:t>PROBLEM STATEMENT &amp; THEME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743200"/>
            <a:ext cx="1627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1A1917"/>
                </a:solidFill>
                <a:latin typeface="Inter"/>
              </a:rPr>
              <a:t>Is an MCX cross-contract gold spread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1A1917"/>
                </a:solidFill>
                <a:latin typeface="Inter"/>
              </a:rPr>
              <a:t>an opportunity — or the cost of closing it?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5120640"/>
            <a:ext cx="548640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5577840"/>
            <a:ext cx="1627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900" b="0">
                <a:solidFill>
                  <a:srgbClr val="6B6862"/>
                </a:solidFill>
                <a:latin typeface="Inter"/>
              </a:rPr>
              <a:t>On 2024-11-07, 258 basis points of gold premium evaporated. We found the day — and proved it was never an arbitrage.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8778240"/>
            <a:ext cx="1627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arb-bound  ·  11,771 real MCX rows  ·  github.com/j4yop/arb-bound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640080"/>
            <a:ext cx="1627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67C00"/>
                </a:solidFill>
                <a:latin typeface="Inter"/>
              </a:rPr>
              <a:t>PROBLEM STATEMENT &amp; THEME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7863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917"/>
                </a:solidFill>
                <a:latin typeface="Inter"/>
              </a:rPr>
              <a:t>MCX lists one metal as four physically-delivered futures.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917"/>
                </a:solidFill>
                <a:latin typeface="Inter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917"/>
                </a:solidFill>
                <a:latin typeface="Inter"/>
              </a:rPr>
              <a:t>A trader sees four prices, sees a spread, and concludes the spread is available.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917"/>
                </a:solidFill>
                <a:latin typeface="Inter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917"/>
                </a:solidFill>
                <a:latin typeface="Inter"/>
              </a:rPr>
              <a:t>Three things make that wrong: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6459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A67C00"/>
                </a:solidFill>
                <a:latin typeface="Inter"/>
              </a:rPr>
              <a:t>Delivery is compulsory.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121408"/>
            <a:ext cx="8046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Closing a cross-contract position means taking physical bars, not netting P&amp;L.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4747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A67C00"/>
                </a:solidFill>
                <a:latin typeface="Inter"/>
              </a:rPr>
              <a:t>Fabrication cost is fixed per bar.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950208"/>
            <a:ext cx="8046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Per-gram overhead scales inversely with size: a 1 g bar costs ~8x an 8 g bar.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53035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A67C00"/>
                </a:solidFill>
                <a:latin typeface="Inter"/>
              </a:rPr>
              <a:t>The contracts are not the same thing.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779008"/>
            <a:ext cx="8046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GOLDM is 995 purity quoting duty-inclusive Ex-Ahmedabad. The others are 999 retail bars.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6858000"/>
            <a:ext cx="1627632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7223760"/>
            <a:ext cx="1627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917"/>
                </a:solidFill>
                <a:latin typeface="Inter"/>
              </a:rPr>
              <a:t>So the observable gap is a mixture of a contractual wedge, a physical conversion cost, and possibly a real dislocation — and prices alone cannot separate them.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917"/>
                </a:solidFill>
                <a:latin typeface="Inter"/>
              </a:rPr>
              <a:t>The data needed to settle it is free, public, and published daily. Nobody uses it this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640080"/>
            <a:ext cx="1627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67C00"/>
                </a:solidFill>
                <a:latin typeface="Inter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371600"/>
            <a:ext cx="1627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3400" b="1">
                <a:solidFill>
                  <a:srgbClr val="1A1917"/>
                </a:solidFill>
                <a:latin typeface="Inter"/>
              </a:rPr>
              <a:t>arb-bound — bhavcopy in, per-pair verdict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2377440"/>
            <a:ext cx="1627632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8346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A67C00"/>
                </a:solidFill>
                <a:latin typeface="Inter"/>
              </a:rPr>
              <a:t>1  NORMALISE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429000"/>
            <a:ext cx="3840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Everything becomes rupees per gram of fine gold: px / quote_grams / purity. MCX pads symbols and uses two date formats; both handled.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66360" y="28346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A67C00"/>
                </a:solidFill>
                <a:latin typeface="Inter"/>
              </a:rPr>
              <a:t>2  MATCH MATURITY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3429000"/>
            <a:ext cx="3840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These contracts expire on offset calendars, so a naive average leaks term structure into the basis. Each leg is paired with the nearest-maturity partner.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28346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A67C00"/>
                </a:solidFill>
                <a:latin typeface="Inter"/>
              </a:rPr>
              <a:t>3  TEST WALK-FORWARD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3429000"/>
            <a:ext cx="3840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The centring level is fitted on training data only, then frozen and applied to data the test never saw. One scalar is fitted; nothing else is tuned.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87400" y="28346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A67C00"/>
                </a:solidFill>
                <a:latin typeface="Inter"/>
              </a:rPr>
              <a:t>4  AUDIT EXECUTABILITY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7400" y="3429000"/>
            <a:ext cx="3840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A bhavcopy print is settlement, not a quote you can lift. Every flagged day is re-tested against the exchange's own printed high/low bands.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6217920"/>
            <a:ext cx="1627632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6492240"/>
            <a:ext cx="1627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A1917"/>
                </a:solidFill>
                <a:latin typeface="Inter"/>
              </a:rPr>
              <a:t>THE BOUND  —  derived from contract structure, never fitted to data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722376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2600" b="1">
                <a:solidFill>
                  <a:srgbClr val="A03030"/>
                </a:solidFill>
                <a:latin typeface="Inter"/>
              </a:rPr>
              <a:t>256–334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GUINEA / 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30752" y="722376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2600" b="1">
                <a:solidFill>
                  <a:srgbClr val="A67C00"/>
                </a:solidFill>
                <a:latin typeface="Inter"/>
              </a:rPr>
              <a:t>40–118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GUINEA / PETAL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55664" y="722376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2600" b="1">
                <a:solidFill>
                  <a:srgbClr val="A67C00"/>
                </a:solidFill>
                <a:latin typeface="Inter"/>
              </a:rPr>
              <a:t>13–91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GUINEA / TEN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0576" y="722376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2600" b="1">
                <a:solidFill>
                  <a:srgbClr val="A03030"/>
                </a:solidFill>
                <a:latin typeface="Inter"/>
              </a:rPr>
              <a:t>284–362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M / PETAL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905488" y="722376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2600" b="1">
                <a:solidFill>
                  <a:srgbClr val="A03030"/>
                </a:solidFill>
                <a:latin typeface="Inter"/>
              </a:rPr>
              <a:t>255–333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M / TEN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630400" y="722376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2600" b="1">
                <a:solidFill>
                  <a:srgbClr val="A67C00"/>
                </a:solidFill>
                <a:latin typeface="Inter"/>
              </a:rPr>
              <a:t>41–119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PETAL / TEN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640080"/>
            <a:ext cx="1627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67C00"/>
                </a:solidFill>
                <a:latin typeface="Inter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55448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A67C00"/>
                </a:solidFill>
                <a:latin typeface="Inter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58191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MCX bhavcopy — JSON embedded in the page, or CSV drop. No API key.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48716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arbbound/fetch.py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514599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proxy-routed live fetch (MCX returns HTTP 403 to data-centre IPs)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419856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arbbound/ingest.py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447287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parse · strip symbols · filter OPTFUT · per-gram-fine · maturity 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352544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arbbound/contracts.py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379976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contract master — every fact carries a Provenance citation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5285231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arbbound/bound.py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312664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structural bound: fabrication + purity/duty wedge + statutory friction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6217919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arbbound/analysis.py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245351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walk-forward · regime-break detection · executability audit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7150607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arbbound/cli.py → build.py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7178039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verdict to stdout, report.json, and a static HTML dashboard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8503920"/>
            <a:ext cx="1627632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8732520"/>
            <a:ext cx="1627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Dependencies point one way:  cli → analysis → {bound, ingest} → contracts.  No module imports one below it in a cycle, so each piece is testable in isolation and an assumption can change without touching the pipeline.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39 tests encode the contract facts and the bound logic.  CI runs them plus a CLI smoke check on every push.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640080"/>
            <a:ext cx="1627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67C00"/>
                </a:solidFill>
                <a:latin typeface="Inter"/>
              </a:rPr>
              <a:t>MARKET RESEARCH /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05840" y="1463040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3000" b="1">
                <a:solidFill>
                  <a:srgbClr val="1A1917"/>
                </a:solidFill>
                <a:latin typeface="Inter"/>
              </a:rPr>
              <a:t>11,771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real traded rows, zero synthetic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1463040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3000" b="1">
                <a:solidFill>
                  <a:srgbClr val="1A1917"/>
                </a:solidFill>
                <a:latin typeface="Inter"/>
              </a:rPr>
              <a:t>6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contract pairs tested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0" y="1463040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3000" b="1">
                <a:solidFill>
                  <a:srgbClr val="1F6F4A"/>
                </a:solidFill>
                <a:latin typeface="Inter"/>
              </a:rPr>
              <a:t>4/6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pairs with a stable level</a:t>
            </a:r>
          </a:p>
        </p:txBody>
      </p:sp>
      <p:sp>
        <p:nvSpPr>
          <p:cNvPr id="6" name="Rectangle 5"/>
          <p:cNvSpPr/>
          <p:nvPr/>
        </p:nvSpPr>
        <p:spPr>
          <a:xfrm>
            <a:off x="13075920" y="1463040"/>
            <a:ext cx="4206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3000" b="1">
                <a:solidFill>
                  <a:srgbClr val="1F6F4A"/>
                </a:solidFill>
                <a:latin typeface="Inter"/>
              </a:rPr>
              <a:t>0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persistent edges survive costs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3200400"/>
            <a:ext cx="1627632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627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A1917"/>
                </a:solidFill>
                <a:latin typeface="Inter"/>
              </a:rPr>
              <a:t>WALK-FORWARD  —  residual basis, level frozen from training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1148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A1917"/>
                </a:solidFill>
                <a:latin typeface="Inter"/>
              </a:rPr>
              <a:t>GOLDGUINEA/GOLDM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4114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A03030"/>
                </a:solidFill>
                <a:latin typeface="Inter"/>
              </a:rPr>
              <a:t>bound exceeded in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4114800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B6862"/>
                </a:solidFill>
                <a:latin typeface="Inter"/>
              </a:rPr>
              <a:t>level stable · max residual +691 bps vs bound 256–334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77316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A1917"/>
                </a:solidFill>
                <a:latin typeface="Inter"/>
              </a:rPr>
              <a:t>GOLDGUINEA/GOLDPETAL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4773168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A03030"/>
                </a:solidFill>
                <a:latin typeface="Inter"/>
              </a:rPr>
              <a:t>bound exceeded in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4773168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A6700"/>
                </a:solidFill>
                <a:latin typeface="Inter"/>
              </a:rPr>
              <a:t>level shifted +150 bps — regime change, not 225 separate opportunities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431536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A1917"/>
                </a:solidFill>
                <a:latin typeface="Inter"/>
              </a:rPr>
              <a:t>GOLDGUINEA/GOLDTEN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5431536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F6F4A"/>
                </a:solidFill>
                <a:latin typeface="Inter"/>
              </a:rPr>
              <a:t>not arbitragable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5431536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A6700"/>
                </a:solidFill>
                <a:latin typeface="Inter"/>
              </a:rPr>
              <a:t>level shifted -14 bps — regime change, not 12 separate opportunities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6089903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A1917"/>
                </a:solidFill>
                <a:latin typeface="Inter"/>
              </a:rPr>
              <a:t>GOLDM/GOLDPETAL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6089903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A03030"/>
                </a:solidFill>
                <a:latin typeface="Inter"/>
              </a:rPr>
              <a:t>bound exceeded in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089903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B6862"/>
                </a:solidFill>
                <a:latin typeface="Inter"/>
              </a:rPr>
              <a:t>level stable · max residual +815 bps vs bound 284–362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6748271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A1917"/>
                </a:solidFill>
                <a:latin typeface="Inter"/>
              </a:rPr>
              <a:t>GOLDM/GOLDTEN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6748271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F6F4A"/>
                </a:solidFill>
                <a:latin typeface="Inter"/>
              </a:rPr>
              <a:t>not arbitragable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6748271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B6862"/>
                </a:solidFill>
                <a:latin typeface="Inter"/>
              </a:rPr>
              <a:t>level stable · max residual -145 bps vs bound 255–333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74066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A1917"/>
                </a:solidFill>
                <a:latin typeface="Inter"/>
              </a:rPr>
              <a:t>GOLDPETAL/GOLDTEN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74066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F6F4A"/>
                </a:solidFill>
                <a:latin typeface="Inter"/>
              </a:rPr>
              <a:t>not arbitragable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7406640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B6862"/>
                </a:solidFill>
                <a:latin typeface="Inter"/>
              </a:rPr>
              <a:t>level stable · max residual +4 bps vs bound 41–119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8458200"/>
            <a:ext cx="1627632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8686800"/>
            <a:ext cx="1627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Dated and decomposed:  GUINEA / PETAL moved +246 → -12 bps across weeks around 2024-11-07 — a drift, not a dated circular taking effect.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A structural cost cannot move like that, so we decomposed it by contract: the complex fell while the liquid leg held its premium. The rule-change channel is closed against MCX's own consolidated circular list.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640080"/>
            <a:ext cx="1627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67C00"/>
                </a:solidFill>
                <a:latin typeface="Inter"/>
              </a:rPr>
              <a:t>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64592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A67C00"/>
                </a:solidFill>
                <a:latin typeface="Inter"/>
              </a:rP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945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Attribute the two stable breaches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5176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GOLDGUINEA/GOLDM and GOLDM/GOLDPETAL breach the bound on a stable level. The GOLDM duty wedge is currently a stated 0–400 bps range; a sourced duty history would resolve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519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Silver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SILVER / SILVERM / SILVERMIC / SILVER100 have the same contract structure. The maturity-matched method ports directly.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164592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A67C00"/>
                </a:solidFill>
                <a:latin typeface="Inter"/>
              </a:rPr>
              <a:t>BEYOND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21945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Beyond MCX gold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265176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The general primitive: any futures series is invalid across its own specification discontinuities. Applies to NCDEX, then NSE/BSE F&amp;O.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42519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Executable prices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0" y="470916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This is settlement data. An order-book feed would turn the executability audit from an upper bound into a real fill estimate.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63093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Public corpus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676656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MCX circulars are numbered, dated and append-only. Each month of ingestion retroactively re-scores historical results.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640080"/>
            <a:ext cx="1627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67C00"/>
                </a:solidFill>
                <a:latin typeface="Inter"/>
              </a:rPr>
              <a:t>EXTRA (OPTIONAL)  —  ASSUMPTIONS AND WHAT THEY DO NOT PROVE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64592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A67C00"/>
                </a:solidFill>
                <a:latin typeface="Inter"/>
              </a:rPr>
              <a:t>STATED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945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A1917"/>
                </a:solidFill>
                <a:latin typeface="Inter"/>
              </a:rPr>
              <a:t>Minting cost is an assumption, not a measurement.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5176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₹20–60 per bar, because MCX does not publish it. Carried as a range and swept; conclusions are claimed only where they survive the whole range.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34340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A1917"/>
                </a:solidFill>
                <a:latin typeface="Inter"/>
              </a:rPr>
              <a:t>The duty wedge is policy-set and has moved repeatedly.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0060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6% (Jul 2024) → 15% (May 2026). Carried as a range, never fitted as a constant.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49224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A1917"/>
                </a:solidFill>
                <a:latin typeface="Inter"/>
              </a:rPr>
              <a:t>GOLDTEN has no history before Apr 2025.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694944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A GOLDTEN-benchmarked '3-year' series is really about 18 months.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164592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9A6700"/>
                </a:solidFill>
                <a:latin typeface="Inter"/>
              </a:rPr>
              <a:t>WHAT THIS DOES NOT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21945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A1917"/>
                </a:solidFill>
                <a:latin typeface="Inter"/>
              </a:rPr>
              <a:t>The November 2024 break is dated and decomposed, not guessed.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0" y="265176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The rule-change channel is closed: MCX's own Master Circular – Products lists no GOLDGUINEA/GOLDPETAL futures-spec change in the window. It was a market event — the liquid leg held its premium while the complex fell — not a rule event.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434340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A1917"/>
                </a:solidFill>
                <a:latin typeface="Inter"/>
              </a:rPr>
              <a:t>Settlement data cannot prove a tradeable edge.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480060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Everything here is end-of-day settlement. The executability audit bounds what could have been reachable; it does not establish a fill.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649224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A1917"/>
                </a:solidFill>
                <a:latin typeface="Inter"/>
              </a:rPr>
              <a:t>Two pairs still breach on a stable level.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694944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GOLDGUINEA/GOLDM and GOLDM/GOLDPETAL. Reported rather than tuned away.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3291840"/>
            <a:ext cx="1627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4800" b="1">
                <a:solidFill>
                  <a:srgbClr val="1A1917"/>
                </a:solidFill>
                <a:latin typeface="Inter"/>
              </a:rPr>
              <a:t>The spread was never the opportunity.</a:t>
            </a:r>
          </a:p>
        </p:txBody>
      </p:sp>
      <p:sp>
        <p:nvSpPr>
          <p:cNvPr id="3" name="Rectangle 2"/>
          <p:cNvSpPr/>
          <p:nvPr/>
        </p:nvSpPr>
        <p:spPr>
          <a:xfrm>
            <a:off x="1005840" y="4846320"/>
            <a:ext cx="548640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5212080"/>
            <a:ext cx="1627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2200" b="0">
                <a:solidFill>
                  <a:srgbClr val="6B6862"/>
                </a:solidFill>
                <a:latin typeface="Inter"/>
              </a:rPr>
              <a:t>We proved it with a bound derived from contract specifications, swept across every assumption it rests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7680960"/>
            <a:ext cx="1627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A67C00"/>
                </a:solidFill>
                <a:latin typeface="Inter"/>
              </a:rPr>
              <a:t>github.com/j4yop/arb-bound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8321040"/>
            <a:ext cx="1627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6B6862"/>
                </a:solidFill>
                <a:latin typeface="Inter"/>
              </a:rPr>
              <a:t>j4yop.github.io/arb-bound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