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2"/>
    <p:sldId id="257" r:id="rId13"/>
    <p:sldId id="258" r:id="rId11"/>
    <p:sldId id="259" r:id="rId10"/>
    <p:sldId id="260" r:id="rId9"/>
    <p:sldId id="261" r:id="rId8"/>
    <p:sldId id="262" r:id="rId7"/>
    <p:sldId id="263" r:id="rId6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627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PROBLEM STATEMENT &amp;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627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1A1917"/>
                </a:solidFill>
                <a:latin typeface="Inter"/>
              </a:rPr>
              <a:t>Is an MCX cross-contract gold spread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1A1917"/>
                </a:solidFill>
                <a:latin typeface="Inter"/>
              </a:rPr>
              <a:t>an opportunity — or the cost of closing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5120640"/>
            <a:ext cx="548640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577840"/>
            <a:ext cx="1627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6B6862"/>
                </a:solidFill>
                <a:latin typeface="Inter"/>
              </a:rPr>
              <a:t>On 2024-11-07, 258 basis points of gold premium evaporated. We found the day — and proved it was never an arbitrage.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778240"/>
            <a:ext cx="1627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arb-bound  ·  11,771 real MCX rows  ·  github.com/j4yop/arb-bound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PROBLEM STATEMENT &amp;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>MCX lists one metal as four physically-delivered futures.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>A trader sees four prices, sees a spread, and concludes the spread is available.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>Three things make that wrong: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645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A67C00"/>
                </a:solidFill>
                <a:latin typeface="Inter"/>
              </a:rPr>
              <a:t>Delivery is compulsory.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21408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Closing a cross-contract position means taking physical bars, not netting P&amp;L.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474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A67C00"/>
                </a:solidFill>
                <a:latin typeface="Inter"/>
              </a:rPr>
              <a:t>Fabrication cost is fixed per 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950208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Per-gram overhead scales inversely with size: a 1 g bar costs ~8x an 8 g bar.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303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A67C00"/>
                </a:solidFill>
                <a:latin typeface="Inter"/>
              </a:rPr>
              <a:t>The contracts are not the same 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779008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GOLDM is 995 purity quoting duty-inclusive Ex-Ahmedabad. The others are 999 retail bars.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685800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7223760"/>
            <a:ext cx="1627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>So the observable gap is a mixture of a contractual wedge, a physical conversion cost, and possibly a real dislocation — and prices alone cannot separate them.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917"/>
                </a:solidFill>
                <a:latin typeface="Inter"/>
              </a:rPr>
              <a:t>The data needed to settle it is free, public, and published daily. Nobody uses it this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627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1A1917"/>
                </a:solidFill>
                <a:latin typeface="Inter"/>
              </a:rPr>
              <a:t>arb-bound — bhavcopy in, per-pair verdict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1  NORMALISE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Everything becomes rupees per gram of fine gold: px / quote_grams / purity. MCX pads symbols and uses two date formats; both handled.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834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2  MATCH MATURITY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342900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These contracts expire on offset calendars, so a naive average leaks term structure into the basis. Each leg is paired with the nearest-maturity 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834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3  TEST WALK-FORWARD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42900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The centring level is fitted on training data only, then frozen and applied to data the test never saw. One scalar is fitted; nothing else is tuned.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87400" y="2834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4  AUDIT EXECUTABILITY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400" y="342900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A bhavcopy print is settlement, not a quote you can lift. Every flagged day is re-tested against the exchange's own printed high/low bands.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621792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1627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917"/>
                </a:solidFill>
                <a:latin typeface="Inter"/>
              </a:rPr>
              <a:t>THE BOUND  —  derived from contract structure, never fitted to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03030"/>
                </a:solidFill>
                <a:latin typeface="Inter"/>
              </a:rPr>
              <a:t>256–334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GUINEA /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0752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67C00"/>
                </a:solidFill>
                <a:latin typeface="Inter"/>
              </a:rPr>
              <a:t>40–118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GUINEA / PETAL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5664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67C00"/>
                </a:solidFill>
                <a:latin typeface="Inter"/>
              </a:rPr>
              <a:t>13–91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GUINEA / 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0576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03030"/>
                </a:solidFill>
                <a:latin typeface="Inter"/>
              </a:rPr>
              <a:t>284–362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M / PETAL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905488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03030"/>
                </a:solidFill>
                <a:latin typeface="Inter"/>
              </a:rPr>
              <a:t>255–333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M / 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0" y="7223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2600" b="1">
                <a:solidFill>
                  <a:srgbClr val="A67C00"/>
                </a:solidFill>
                <a:latin typeface="Inter"/>
              </a:rPr>
              <a:t>41–119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PETAL / 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A67C00"/>
                </a:solidFill>
                <a:latin typeface="Inter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MCX bhavcopy — JSON embedded in the page, or CSV drop. No API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871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arbbound/fetch.py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1459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proxy-routed live fetch (MCX returns HTTP 403 to data-centre IPs)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1985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arbbound/ingest.py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47287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parse · strip symbols · filter OPTFUT · per-gram-fine · maturity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5254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arbbound/contracts.py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7997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contract master — every fact carries a Provenance citation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285231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arbbound/bound.py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126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structural bound: fabrication + purity/duty wedge + statutory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62179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arbbound/analysis.py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245351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walk-forward · regime-break detection · executability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7150607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arbbound/cli.py → build.py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71780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862"/>
                </a:solidFill>
                <a:latin typeface="Inter"/>
              </a:rPr>
              <a:t>verdict to stdout, report.json, and a static HTML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850392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8732520"/>
            <a:ext cx="1627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Dependencies point one way:  cli → analysis → {bound, ingest} → contracts.  No module imports one below it in a cycle, so each piece is testable in isolation and an assumption can change without touching the pipeline.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39 tests encode the contract facts and the bound logic.  CI runs them plus a CLI smoke check on every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MARKET RESEARCH /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3000" b="1">
                <a:solidFill>
                  <a:srgbClr val="1A1917"/>
                </a:solidFill>
                <a:latin typeface="Inter"/>
              </a:rPr>
              <a:t>11,771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real traded rows, zero synthetic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4630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3000" b="1">
                <a:solidFill>
                  <a:srgbClr val="1A1917"/>
                </a:solidFill>
                <a:latin typeface="Inter"/>
              </a:rPr>
              <a:t>6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contract pairs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0" y="14630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3000" b="1">
                <a:solidFill>
                  <a:srgbClr val="1F6F4A"/>
                </a:solidFill>
                <a:latin typeface="Inter"/>
              </a:rPr>
              <a:t>4/6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pairs with a stable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75920" y="146304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/>
            <a:r>
              <a:rPr sz="3000" b="1">
                <a:solidFill>
                  <a:srgbClr val="1F6F4A"/>
                </a:solidFill>
                <a:latin typeface="Inter"/>
              </a:rPr>
              <a:t>0</a:t>
            </a:r>
          </a:p>
          <a:p>
            <a:r>
              <a:rPr sz="1200">
                <a:solidFill>
                  <a:srgbClr val="6B6862"/>
                </a:solidFill>
                <a:latin typeface="Inter"/>
              </a:rPr>
              <a:t>persistent edges survive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0040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627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917"/>
                </a:solidFill>
                <a:latin typeface="Inter"/>
              </a:rPr>
              <a:t>WALK-FORWARD  —  residual basis, level frozen from training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GOLDGUINEA/GOLDM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A03030"/>
                </a:solidFill>
                <a:latin typeface="Inter"/>
              </a:rPr>
              <a:t>bound exceeded in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41148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6862"/>
                </a:solidFill>
                <a:latin typeface="Inter"/>
              </a:rPr>
              <a:t>level stable · max residual +691 bps vs bound 256–334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731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GOLDGUINEA/GOLDPETAL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7731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A03030"/>
                </a:solidFill>
                <a:latin typeface="Inter"/>
              </a:rPr>
              <a:t>bound exceeded in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477316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A6700"/>
                </a:solidFill>
                <a:latin typeface="Inter"/>
              </a:rPr>
              <a:t>level shifted +150 bps — regime change, not 225 separate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43153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GOLDGUINEA/GOLDTEN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4315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F6F4A"/>
                </a:solidFill>
                <a:latin typeface="Inter"/>
              </a:rPr>
              <a:t>not arbitragable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543153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A6700"/>
                </a:solidFill>
                <a:latin typeface="Inter"/>
              </a:rPr>
              <a:t>level shifted -14 bps — regime change, not 12 separate opportunities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6089903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GOLDM/GOLDPETAL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089903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A03030"/>
                </a:solidFill>
                <a:latin typeface="Inter"/>
              </a:rPr>
              <a:t>bound exceeded in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089903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6862"/>
                </a:solidFill>
                <a:latin typeface="Inter"/>
              </a:rPr>
              <a:t>level stable · max residual +815 bps vs bound 284–362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674827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GOLDM/GOLDTEN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74827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F6F4A"/>
                </a:solidFill>
                <a:latin typeface="Inter"/>
              </a:rPr>
              <a:t>not arbitragable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748271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6862"/>
                </a:solidFill>
                <a:latin typeface="Inter"/>
              </a:rPr>
              <a:t>level stable · max residual -145 bps vs bound 255–333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7406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917"/>
                </a:solidFill>
                <a:latin typeface="Inter"/>
              </a:rPr>
              <a:t>GOLDPETAL/GOLDTEN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7406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F6F4A"/>
                </a:solidFill>
                <a:latin typeface="Inter"/>
              </a:rPr>
              <a:t>not arbitragable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74066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6862"/>
                </a:solidFill>
                <a:latin typeface="Inter"/>
              </a:rPr>
              <a:t>level stable · max residual +4 bps vs bound 41–119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8458200"/>
            <a:ext cx="1627632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8686800"/>
            <a:ext cx="1627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Open question, deliberately unanswered:  GUINEA / PETAL moved +246 → -12 bps across weeks around 2024-11-07 — a drift, not a dated circular taking effect.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A structural cost cannot move like that, so something else drove it. We report it as a dated open question rather than inventing a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Close the open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Pull MCX circulars for Oct–Dec 2024 and test whether a contract-spec or delivery change explains the November break.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519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Attribute the two stable breaches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GOLDGUINEA/GOLDM and GOLDM/GOLDPETAL breach the bound on a stable level. The GOLDM duty wedge is currently a stated 0–400 bps range; a sourced duty history would resolve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3093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Silver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7665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SILVER / SILVERM / SILVERMIC / SILVER100 have the same contract structure. The maturity-matched method ports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645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94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Beyond MCX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517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The general primitive: any futures series is invalid across its own specification discontinuities. Applies to NCDEX, then NSE/BSE F&amp;O.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42519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Executable prices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7091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This is settlement data. An order-book feed would turn the executability audit from an upper bound into a real fill estimate.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093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917"/>
                </a:solidFill>
                <a:latin typeface="Inter"/>
              </a:rPr>
              <a:t>Public 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7665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6B6862"/>
                </a:solidFill>
                <a:latin typeface="Inter"/>
              </a:rPr>
              <a:t>MCX circulars are numbered, dated and append-only. Each month of ingestion retroactively re-scores historical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67C00"/>
                </a:solidFill>
                <a:latin typeface="Inter"/>
              </a:rPr>
              <a:t>EXTRA (OPTIONAL)  —  ASSUMPTIONS AND WHAT THEY DO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A67C00"/>
                </a:solidFill>
                <a:latin typeface="Inter"/>
              </a:rPr>
              <a:t>STATED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Minting cost is an assumption, not a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₹20–60 per bar, because MCX does not publish it. Carried as a range and swept; conclusions are claimed only where they survive the whole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The duty wedge is policy-set and has moved repeatedly.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6% (Jul 2024) → 15% (May 2026). Carried as a range, never fitted as a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492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GOLDTEN has no history before Apr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9494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A GOLDTEN-benchmarked '3-year' series is really about 18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645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9A6700"/>
                </a:solidFill>
                <a:latin typeface="Inter"/>
              </a:rPr>
              <a:t>WHAT THIS DOES NOT 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94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The November 2024 break is dated, not explained.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517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We tested the obvious hypothesis — the May 2026 duty hike — and it failed the timing test: the spike peaks Feb 2026, the duty move is May 2026.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43434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Settlement data cannot prove a tradeable 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800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Everything here is end-of-day settlement. The executability audit bounds what could have been reachable; it does not establish a fill.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92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A1917"/>
                </a:solidFill>
                <a:latin typeface="Inter"/>
              </a:rPr>
              <a:t>Two pairs still breach on a stable level.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9494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 b="0">
                <a:solidFill>
                  <a:srgbClr val="6B6862"/>
                </a:solidFill>
                <a:latin typeface="Inter"/>
              </a:rPr>
              <a:t>GOLDGUINEA/GOLDM and GOLDM/GOLDPETAL. Reported rather than tuned 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3291840"/>
            <a:ext cx="1627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4800" b="1">
                <a:solidFill>
                  <a:srgbClr val="1A1917"/>
                </a:solidFill>
                <a:latin typeface="Inter"/>
              </a:rPr>
              <a:t>The spread was never the opportunity.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4846320"/>
            <a:ext cx="5486400" cy="254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212080"/>
            <a:ext cx="1627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6B6862"/>
                </a:solidFill>
                <a:latin typeface="Inter"/>
              </a:rPr>
              <a:t>We proved it with a bound derived from contract specifications, swept across every assumption it rests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680960"/>
            <a:ext cx="1627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A67C00"/>
                </a:solidFill>
                <a:latin typeface="Inter"/>
              </a:rPr>
              <a:t>github.com/j4yop/arb-bound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321040"/>
            <a:ext cx="1627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B6862"/>
                </a:solidFill>
                <a:latin typeface="Inter"/>
              </a:rPr>
              <a:t>j4yop.github.io/arb-bound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